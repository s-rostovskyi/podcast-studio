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90d8367-746f-380c-7003-cb72aadece89}">
          <p14:sldIdLst>
            <p14:sldId id="256"/>
          </p14:sldIdLst>
        </p14:section>
        <p14:section name="Project" id="{0529d34d-e9d0-30c4-6901-57757fc8c066}">
          <p14:sldIdLst>
            <p14:sldId id="257"/>
            <p14:sldId id="258"/>
            <p14:sldId id="259"/>
          </p14:sldIdLst>
        </p14:section>
        <p14:section name="Demo" id="{65833b1f-562b-a4d3-58d3-6717b1ccf75d}">
          <p14:sldIdLst>
            <p14:sldId id="260"/>
          </p14:sldIdLst>
        </p14:section>
        <p14:section name="Takeaways" id="{9643f86d-df93-ab16-365f-8809416b9211}">
          <p14:sldIdLst>
            <p14:sldId id="261"/>
            <p14:sldId id="262"/>
          </p14:sldIdLst>
        </p14:section>
        <p14:section name="Close" id="{f21d0255-a135-c6b0-fa1b-c59eb8cc8e9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two team members: Sergii Rostovskyi and Pieter Albrecht.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lead busy lives, so Homework Helper gives them a tool that fits into their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a PDF with study materials goes in, a podcast text of adjustable length is generated, text to speech turns it into audio, and the Exam Helper generates three exam questions with answers at the end of the text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a function that generates exam practice questions: 3 questions about the text, with the 3 answers given at the end of the text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demo of Presentation Podcast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script failed with gpt-4o-mini-TTS but worked with tts-1. Sergii isolated the failing part, ran only that with tts-1 and everything else with gpt-4o-mini-TTS, which let us implement voice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lessons: team structure, working in parallel with Git, and making the app reachable via Gradio.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12064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926080"/>
            <a:ext cx="512064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ENT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7863840" cy="100584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endParaRPr lang="en-US" sz="5400" dirty="0"/>
          </a:p>
        </p:txBody>
      </p:sp>
      <p:sp>
        <p:nvSpPr>
          <p:cNvPr id="3" name="Text 0"/>
          <p:cNvSpPr/>
          <p:nvPr>
            <p:ph idx="101" type="body" hasCustomPrompt="1"/>
          </p:nvPr>
        </p:nvSpPr>
        <p:spPr>
          <a:xfrm>
            <a:off x="640080" y="3520440"/>
            <a:ext cx="7863840" cy="548640"/>
          </a:xfrm>
          <a:prstGeom prst="rect">
            <a:avLst/>
          </a:prstGeom>
          <a:noFill/>
          <a:ln/>
        </p:spPr>
        <p:txBody>
          <a:bodyPr wrap="square" rtlCol="0"/>
          <a:lstStyle>
            <a:lvl1pPr algn="ctr" indent="0" marL="0">
              <a:buNone/>
              <a:defRPr lang="en-US" sz="2000" dirty="0">
                <a:solidFill>
                  <a:schemeClr val="bg2"/>
                </a:solidFill>
              </a:defRPr>
            </a:lvl1pPr>
          </a:lstStyle>
          <a:p>
            <a:pPr algn="ct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4681728"/>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Presentation Podcast Studio</a:t>
            </a:r>
            <a:endParaRPr lang="en-US" sz="1000" dirty="0"/>
          </a:p>
        </p:txBody>
      </p:sp>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1"/>
          <p:cNvSpPr/>
          <p:nvPr/>
        </p:nvSpPr>
        <p:spPr>
          <a:xfrm>
            <a:off x="5486400" y="822960"/>
            <a:ext cx="3474720" cy="3474720"/>
          </a:xfrm>
          <a:prstGeom prst="ellipse">
            <a:avLst/>
          </a:prstGeom>
          <a:solidFill>
            <a:schemeClr val="accent3">
              <a:alpha val="20000"/>
            </a:schemeClr>
          </a:solidFill>
          <a:ln w="12700">
            <a:solidFill>
              <a:schemeClr val="accent3"/>
            </a:solidFill>
            <a:prstDash val="solid"/>
          </a:ln>
        </p:spPr>
      </p:sp>
      <p:sp>
        <p:nvSpPr>
          <p:cNvPr id="3" name="Ring 2"/>
          <p:cNvSpPr/>
          <p:nvPr/>
        </p:nvSpPr>
        <p:spPr>
          <a:xfrm>
            <a:off x="5989320" y="1325880"/>
            <a:ext cx="2468880" cy="2468880"/>
          </a:xfrm>
          <a:prstGeom prst="ellipse">
            <a:avLst/>
          </a:prstGeom>
          <a:solidFill>
            <a:schemeClr val="accent3">
              <a:alpha val="35000"/>
            </a:schemeClr>
          </a:solidFill>
          <a:ln w="12700">
            <a:solidFill>
              <a:schemeClr val="accent3"/>
            </a:solidFill>
            <a:prstDash val="solid"/>
          </a:ln>
        </p:spPr>
      </p:sp>
      <p:sp>
        <p:nvSpPr>
          <p:cNvPr id="4" name="Ring 3"/>
          <p:cNvSpPr/>
          <p:nvPr/>
        </p:nvSpPr>
        <p:spPr>
          <a:xfrm>
            <a:off x="6446520" y="1783080"/>
            <a:ext cx="1554480" cy="1554480"/>
          </a:xfrm>
          <a:prstGeom prst="ellipse">
            <a:avLst/>
          </a:prstGeom>
          <a:solidFill>
            <a:schemeClr val="accent3">
              <a:alpha val="60000"/>
            </a:schemeClr>
          </a:solidFill>
          <a:ln w="12700">
            <a:solidFill>
              <a:schemeClr val="accent3"/>
            </a:solidFill>
            <a:prstDash val="solid"/>
          </a:ln>
        </p:spPr>
      </p:sp>
      <p:sp>
        <p:nvSpPr>
          <p:cNvPr id="5" name="Microphone circle"/>
          <p:cNvSpPr/>
          <p:nvPr/>
        </p:nvSpPr>
        <p:spPr>
          <a:xfrm>
            <a:off x="6720840" y="2057400"/>
            <a:ext cx="1005840" cy="1005840"/>
          </a:xfrm>
          <a:prstGeom prst="ellipse">
            <a:avLst/>
          </a:prstGeom>
          <a:solidFill>
            <a:schemeClr val="accent1"/>
          </a:solidFill>
          <a:ln w="12700">
            <a:solidFill>
              <a:schemeClr val="accent1"/>
            </a:solidFill>
            <a:prstDash val="solid"/>
          </a:ln>
        </p:spPr>
      </p:sp>
      <p:pic>
        <p:nvPicPr>
          <p:cNvPr id="6" name="Microphone icon" descr="Microphone">    </p:cNvPr>
          <p:cNvPicPr>
            <a:picLocks noChangeAspect="1"/>
          </p:cNvPicPr>
          <p:nvPr/>
        </p:nvPicPr>
        <p:blipFill>
          <a:blip r:embed="rId1"/>
          <a:stretch>
            <a:fillRect/>
          </a:stretch>
        </p:blipFill>
        <p:spPr>
          <a:xfrm>
            <a:off x="7002475" y="2339035"/>
            <a:ext cx="442570" cy="442570"/>
          </a:xfrm>
          <a:prstGeom prst="rect">
            <a:avLst/>
          </a:prstGeom>
        </p:spPr>
      </p:pic>
      <p:sp>
        <p:nvSpPr>
          <p:cNvPr id="7" name="Text 0"/>
          <p:cNvSpPr/>
          <p:nvPr>
            <p:ph idx="100" type="title" hasCustomPrompt="1"/>
          </p:nvPr>
        </p:nvSpPr>
        <p:spPr>
          <a:xfrm>
            <a:off x="640080" y="1097280"/>
            <a:ext cx="5120640" cy="1645920"/>
          </a:xfrm>
          <a:prstGeom prst="rect">
            <a:avLst/>
          </a:prstGeom>
          <a:noFill/>
          <a:ln/>
        </p:spPr>
        <p:txBody>
          <a:bodyPr wrap="square" lIns="0" tIns="0" rIns="0" bIns="0" rtlCol="0" anchor="b"/>
          <a:lstStyle/>
          <a:p>
            <a:pPr algn="l" indent="0" marL="0">
              <a:buNone/>
            </a:pPr>
            <a:r>
              <a:rPr lang="en-US" sz="4400" b="1" dirty="0">
                <a:solidFill>
                  <a:schemeClr val="bg1"/>
                </a:solidFill>
              </a:rPr>
              <a:t>Presentation Podcast Studio</a:t>
            </a:r>
            <a:endParaRPr lang="en-US" sz="4400" dirty="0"/>
          </a:p>
        </p:txBody>
      </p:sp>
      <p:sp>
        <p:nvSpPr>
          <p:cNvPr id="8" name="Text 0"/>
          <p:cNvSpPr/>
          <p:nvPr>
            <p:ph idx="101" type="body" hasCustomPrompt="1"/>
          </p:nvPr>
        </p:nvSpPr>
        <p:spPr>
          <a:xfrm>
            <a:off x="640080" y="2926080"/>
            <a:ext cx="5120640" cy="731520"/>
          </a:xfrm>
          <a:prstGeom prst="rect">
            <a:avLst/>
          </a:prstGeom>
          <a:noFill/>
          <a:ln/>
        </p:spPr>
        <p:txBody>
          <a:bodyPr wrap="square" lIns="0" tIns="0" rIns="0" bIns="0" rtlCol="0" anchor="t"/>
          <a:lstStyle/>
          <a:p>
            <a:pPr algn="l" indent="0" marL="0">
              <a:buNone/>
            </a:pPr>
            <a:r>
              <a:rPr lang="en-US" sz="1800" dirty="0">
                <a:solidFill>
                  <a:schemeClr val="bg2"/>
                </a:solidFill>
              </a:rPr>
              <a:t>By Sergii Rostovskyi &amp; Pieter Albrecht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rPr>
              <a:t>Project Homework Helper</a:t>
            </a:r>
            <a:endParaRPr lang="en-US" sz="3600" dirty="0"/>
          </a:p>
        </p:txBody>
      </p:sp>
      <p:sp>
        <p:nvSpPr>
          <p:cNvPr id="3" name="Statement card"/>
          <p:cNvSpPr/>
          <p:nvPr/>
        </p:nvSpPr>
        <p:spPr>
          <a:xfrm>
            <a:off x="548640" y="1371600"/>
            <a:ext cx="8046720" cy="3017520"/>
          </a:xfrm>
          <a:prstGeom prst="roundRect">
            <a:avLst>
              <a:gd name="adj" fmla="val 3636"/>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4" name="Statement"/>
          <p:cNvSpPr txBox="1"/>
          <p:nvPr/>
        </p:nvSpPr>
        <p:spPr>
          <a:xfrm>
            <a:off x="914400" y="1783080"/>
            <a:ext cx="493776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Students lead busy lives.</a:t>
            </a:r>
            <a:endParaRPr lang="en-US" sz="3000" dirty="0"/>
          </a:p>
        </p:txBody>
      </p:sp>
      <p:sp>
        <p:nvSpPr>
          <p:cNvPr id="5" name="Statement detail"/>
          <p:cNvSpPr txBox="1"/>
          <p:nvPr/>
        </p:nvSpPr>
        <p:spPr>
          <a:xfrm>
            <a:off x="914400" y="2560320"/>
            <a:ext cx="4572000" cy="1097280"/>
          </a:xfrm>
          <a:prstGeom prst="rect">
            <a:avLst/>
          </a:prstGeom>
          <a:noFill/>
          <a:ln/>
        </p:spPr>
        <p:txBody>
          <a:bodyPr wrap="square" lIns="0" tIns="0" rIns="0" bIns="0" rtlCol="0" anchor="t"/>
          <a:lstStyle/>
          <a:p>
            <a:pPr indent="0" marL="0">
              <a:buNone/>
            </a:pPr>
            <a:r>
              <a:rPr lang="en-US" sz="2000" dirty="0">
                <a:solidFill>
                  <a:schemeClr val="accent6"/>
                </a:solidFill>
              </a:rPr>
              <a:t>They can use every tool available to study smarter, not harder.</a:t>
            </a:r>
            <a:endParaRPr lang="en-US" sz="2000" dirty="0"/>
          </a:p>
        </p:txBody>
      </p:sp>
      <p:sp>
        <p:nvSpPr>
          <p:cNvPr id="6" name="Halo"/>
          <p:cNvSpPr/>
          <p:nvPr/>
        </p:nvSpPr>
        <p:spPr>
          <a:xfrm>
            <a:off x="5989320" y="1737360"/>
            <a:ext cx="2286000" cy="2286000"/>
          </a:xfrm>
          <a:prstGeom prst="ellipse">
            <a:avLst/>
          </a:prstGeom>
          <a:solidFill>
            <a:schemeClr val="accent3">
              <a:alpha val="18000"/>
            </a:schemeClr>
          </a:solidFill>
          <a:ln w="12700">
            <a:solidFill>
              <a:schemeClr val="accent3"/>
            </a:solidFill>
            <a:prstDash val="solid"/>
          </a:ln>
        </p:spPr>
      </p:sp>
      <p:sp>
        <p:nvSpPr>
          <p:cNvPr id="7" name="Graduation cap circle"/>
          <p:cNvSpPr/>
          <p:nvPr/>
        </p:nvSpPr>
        <p:spPr>
          <a:xfrm>
            <a:off x="6446520" y="2194560"/>
            <a:ext cx="1371600" cy="1371600"/>
          </a:xfrm>
          <a:prstGeom prst="ellipse">
            <a:avLst/>
          </a:prstGeom>
          <a:solidFill>
            <a:schemeClr val="accent3"/>
          </a:solidFill>
          <a:ln w="12700">
            <a:solidFill>
              <a:schemeClr val="accent3"/>
            </a:solidFill>
            <a:prstDash val="solid"/>
          </a:ln>
        </p:spPr>
      </p:sp>
      <p:pic>
        <p:nvPicPr>
          <p:cNvPr id="8" name="Graduation cap icon" descr="Graduation cap">    </p:cNvPr>
          <p:cNvPicPr>
            <a:picLocks noChangeAspect="1"/>
          </p:cNvPicPr>
          <p:nvPr/>
        </p:nvPicPr>
        <p:blipFill>
          <a:blip r:embed="rId1"/>
          <a:stretch>
            <a:fillRect/>
          </a:stretch>
        </p:blipFill>
        <p:spPr>
          <a:xfrm>
            <a:off x="6830568" y="2578608"/>
            <a:ext cx="603504" cy="603504"/>
          </a:xfrm>
          <a:prstGeom prst="rect">
            <a:avLst/>
          </a:prstGeom>
        </p:spPr>
      </p:pic>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rPr>
              <a:t>What problem are we solving</a:t>
            </a:r>
            <a:endParaRPr lang="en-US" sz="3600" dirty="0"/>
          </a:p>
        </p:txBody>
      </p:sp>
      <p:sp>
        <p:nvSpPr>
          <p:cNvPr id="3" name="Intro line"/>
          <p:cNvSpPr txBox="1"/>
          <p:nvPr/>
        </p:nvSpPr>
        <p:spPr>
          <a:xfrm>
            <a:off x="548640" y="1143000"/>
            <a:ext cx="8046720" cy="457200"/>
          </a:xfrm>
          <a:prstGeom prst="rect">
            <a:avLst/>
          </a:prstGeom>
          <a:noFill/>
          <a:ln/>
        </p:spPr>
        <p:txBody>
          <a:bodyPr wrap="square" lIns="0" tIns="0" rIns="0" bIns="0" rtlCol="0" anchor="ctr"/>
          <a:lstStyle/>
          <a:p>
            <a:pPr indent="0" marL="0">
              <a:buNone/>
            </a:pPr>
            <a:r>
              <a:rPr lang="en-US" sz="1800" dirty="0">
                <a:solidFill>
                  <a:schemeClr val="accent6"/>
                </a:solidFill>
              </a:rPr>
              <a:t>We help students turn their study materials into a fun, educational podcast.</a:t>
            </a:r>
            <a:endParaRPr lang="en-US" sz="1800" dirty="0"/>
          </a:p>
        </p:txBody>
      </p:sp>
      <p:sp>
        <p:nvSpPr>
          <p:cNvPr id="4" name="PDF input card"/>
          <p:cNvSpPr/>
          <p:nvPr/>
        </p:nvSpPr>
        <p:spPr>
          <a:xfrm>
            <a:off x="548640" y="1828800"/>
            <a:ext cx="1828800" cy="2697480"/>
          </a:xfrm>
          <a:prstGeom prst="roundRect">
            <a:avLst>
              <a:gd name="adj" fmla="val 6000"/>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5" name="PDF input circle"/>
          <p:cNvSpPr/>
          <p:nvPr/>
        </p:nvSpPr>
        <p:spPr>
          <a:xfrm>
            <a:off x="713232" y="2011680"/>
            <a:ext cx="685800" cy="685800"/>
          </a:xfrm>
          <a:prstGeom prst="ellipse">
            <a:avLst/>
          </a:prstGeom>
          <a:solidFill>
            <a:schemeClr val="accent3"/>
          </a:solidFill>
          <a:ln w="12700">
            <a:solidFill>
              <a:schemeClr val="accent3"/>
            </a:solidFill>
            <a:prstDash val="solid"/>
          </a:ln>
        </p:spPr>
      </p:sp>
      <p:pic>
        <p:nvPicPr>
          <p:cNvPr id="6" name="PDF input icon" descr="PDF input">    </p:cNvPr>
          <p:cNvPicPr>
            <a:picLocks noChangeAspect="1"/>
          </p:cNvPicPr>
          <p:nvPr/>
        </p:nvPicPr>
        <p:blipFill>
          <a:blip r:embed="rId1"/>
          <a:stretch>
            <a:fillRect/>
          </a:stretch>
        </p:blipFill>
        <p:spPr>
          <a:xfrm>
            <a:off x="905256" y="2203704"/>
            <a:ext cx="301752" cy="301752"/>
          </a:xfrm>
          <a:prstGeom prst="rect">
            <a:avLst/>
          </a:prstGeom>
        </p:spPr>
      </p:pic>
      <p:sp>
        <p:nvSpPr>
          <p:cNvPr id="7" name="PDF input heading"/>
          <p:cNvSpPr txBox="1"/>
          <p:nvPr/>
        </p:nvSpPr>
        <p:spPr>
          <a:xfrm>
            <a:off x="713232" y="28346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PDF input</a:t>
            </a:r>
            <a:endParaRPr lang="en-US" sz="1800" dirty="0"/>
          </a:p>
        </p:txBody>
      </p:sp>
      <p:sp>
        <p:nvSpPr>
          <p:cNvPr id="8" name="PDF input text"/>
          <p:cNvSpPr txBox="1"/>
          <p:nvPr/>
        </p:nvSpPr>
        <p:spPr>
          <a:xfrm>
            <a:off x="713232" y="3246120"/>
            <a:ext cx="1554480" cy="1143000"/>
          </a:xfrm>
          <a:prstGeom prst="rect">
            <a:avLst/>
          </a:prstGeom>
          <a:noFill/>
          <a:ln/>
        </p:spPr>
        <p:txBody>
          <a:bodyPr wrap="square" lIns="0" tIns="0" rIns="0" bIns="0" rtlCol="0" anchor="t"/>
          <a:lstStyle/>
          <a:p>
            <a:pPr indent="0" marL="0">
              <a:buNone/>
            </a:pPr>
            <a:r>
              <a:rPr lang="en-US" sz="1400" dirty="0">
                <a:solidFill>
                  <a:schemeClr val="accent6"/>
                </a:solidFill>
              </a:rPr>
              <a:t>Upload your study materials as a PDF</a:t>
            </a:r>
            <a:endParaRPr lang="en-US" sz="1400" dirty="0"/>
          </a:p>
        </p:txBody>
      </p:sp>
      <p:pic>
        <p:nvPicPr>
          <p:cNvPr id="9" name="Arrow 1" descr="leads to">    </p:cNvPr>
          <p:cNvPicPr>
            <a:picLocks noChangeAspect="1"/>
          </p:cNvPicPr>
          <p:nvPr/>
        </p:nvPicPr>
        <p:blipFill>
          <a:blip r:embed="rId2"/>
          <a:stretch>
            <a:fillRect/>
          </a:stretch>
        </p:blipFill>
        <p:spPr>
          <a:xfrm>
            <a:off x="2407920" y="2743200"/>
            <a:ext cx="182880" cy="182880"/>
          </a:xfrm>
          <a:prstGeom prst="rect">
            <a:avLst/>
          </a:prstGeom>
        </p:spPr>
      </p:pic>
      <p:sp>
        <p:nvSpPr>
          <p:cNvPr id="10" name="Podcast card"/>
          <p:cNvSpPr/>
          <p:nvPr/>
        </p:nvSpPr>
        <p:spPr>
          <a:xfrm>
            <a:off x="2621280" y="1828800"/>
            <a:ext cx="1828800" cy="2697480"/>
          </a:xfrm>
          <a:prstGeom prst="roundRect">
            <a:avLst>
              <a:gd name="adj" fmla="val 6000"/>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11" name="Podcast circle"/>
          <p:cNvSpPr/>
          <p:nvPr/>
        </p:nvSpPr>
        <p:spPr>
          <a:xfrm>
            <a:off x="2785872" y="2011680"/>
            <a:ext cx="685800" cy="685800"/>
          </a:xfrm>
          <a:prstGeom prst="ellipse">
            <a:avLst/>
          </a:prstGeom>
          <a:solidFill>
            <a:schemeClr val="accent1"/>
          </a:solidFill>
          <a:ln w="12700">
            <a:solidFill>
              <a:schemeClr val="accent1"/>
            </a:solidFill>
            <a:prstDash val="solid"/>
          </a:ln>
        </p:spPr>
      </p:sp>
      <p:pic>
        <p:nvPicPr>
          <p:cNvPr id="12" name="Podcast icon" descr="Podcast">    </p:cNvPr>
          <p:cNvPicPr>
            <a:picLocks noChangeAspect="1"/>
          </p:cNvPicPr>
          <p:nvPr/>
        </p:nvPicPr>
        <p:blipFill>
          <a:blip r:embed="rId3"/>
          <a:stretch>
            <a:fillRect/>
          </a:stretch>
        </p:blipFill>
        <p:spPr>
          <a:xfrm>
            <a:off x="2977896" y="2203704"/>
            <a:ext cx="301752" cy="301752"/>
          </a:xfrm>
          <a:prstGeom prst="rect">
            <a:avLst/>
          </a:prstGeom>
        </p:spPr>
      </p:pic>
      <p:sp>
        <p:nvSpPr>
          <p:cNvPr id="13" name="Podcast heading"/>
          <p:cNvSpPr txBox="1"/>
          <p:nvPr/>
        </p:nvSpPr>
        <p:spPr>
          <a:xfrm>
            <a:off x="2785872" y="28346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Podcast</a:t>
            </a:r>
            <a:endParaRPr lang="en-US" sz="1800" dirty="0"/>
          </a:p>
        </p:txBody>
      </p:sp>
      <p:sp>
        <p:nvSpPr>
          <p:cNvPr id="14" name="Podcast text"/>
          <p:cNvSpPr txBox="1"/>
          <p:nvPr/>
        </p:nvSpPr>
        <p:spPr>
          <a:xfrm>
            <a:off x="2785872" y="3246120"/>
            <a:ext cx="1554480" cy="1143000"/>
          </a:xfrm>
          <a:prstGeom prst="rect">
            <a:avLst/>
          </a:prstGeom>
          <a:noFill/>
          <a:ln/>
        </p:spPr>
        <p:txBody>
          <a:bodyPr wrap="square" lIns="0" tIns="0" rIns="0" bIns="0" rtlCol="0" anchor="t"/>
          <a:lstStyle/>
          <a:p>
            <a:pPr indent="0" marL="0">
              <a:buNone/>
            </a:pPr>
            <a:r>
              <a:rPr lang="en-US" sz="1400" dirty="0">
                <a:solidFill>
                  <a:schemeClr val="accent6"/>
                </a:solidFill>
              </a:rPr>
              <a:t>A fun, educational podcast about the material, with adjustable length</a:t>
            </a:r>
            <a:endParaRPr lang="en-US" sz="1400" dirty="0"/>
          </a:p>
        </p:txBody>
      </p:sp>
      <p:pic>
        <p:nvPicPr>
          <p:cNvPr id="15" name="Arrow 2" descr="leads to">    </p:cNvPr>
          <p:cNvPicPr>
            <a:picLocks noChangeAspect="1"/>
          </p:cNvPicPr>
          <p:nvPr/>
        </p:nvPicPr>
        <p:blipFill>
          <a:blip r:embed="rId4"/>
          <a:stretch>
            <a:fillRect/>
          </a:stretch>
        </p:blipFill>
        <p:spPr>
          <a:xfrm>
            <a:off x="4480560" y="2743200"/>
            <a:ext cx="182880" cy="182880"/>
          </a:xfrm>
          <a:prstGeom prst="rect">
            <a:avLst/>
          </a:prstGeom>
        </p:spPr>
      </p:pic>
      <p:sp>
        <p:nvSpPr>
          <p:cNvPr id="16" name="Text to speech card"/>
          <p:cNvSpPr/>
          <p:nvPr/>
        </p:nvSpPr>
        <p:spPr>
          <a:xfrm>
            <a:off x="4693920" y="1828800"/>
            <a:ext cx="1828800" cy="2697480"/>
          </a:xfrm>
          <a:prstGeom prst="roundRect">
            <a:avLst>
              <a:gd name="adj" fmla="val 6000"/>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17" name="Text to speech circle"/>
          <p:cNvSpPr/>
          <p:nvPr/>
        </p:nvSpPr>
        <p:spPr>
          <a:xfrm>
            <a:off x="4858512" y="2011680"/>
            <a:ext cx="685800" cy="685800"/>
          </a:xfrm>
          <a:prstGeom prst="ellipse">
            <a:avLst/>
          </a:prstGeom>
          <a:solidFill>
            <a:schemeClr val="accent4"/>
          </a:solidFill>
          <a:ln w="12700">
            <a:solidFill>
              <a:schemeClr val="accent4"/>
            </a:solidFill>
            <a:prstDash val="solid"/>
          </a:ln>
        </p:spPr>
      </p:sp>
      <p:pic>
        <p:nvPicPr>
          <p:cNvPr id="18" name="Text to speech icon" descr="Text to speech">    </p:cNvPr>
          <p:cNvPicPr>
            <a:picLocks noChangeAspect="1"/>
          </p:cNvPicPr>
          <p:nvPr/>
        </p:nvPicPr>
        <p:blipFill>
          <a:blip r:embed="rId5"/>
          <a:stretch>
            <a:fillRect/>
          </a:stretch>
        </p:blipFill>
        <p:spPr>
          <a:xfrm>
            <a:off x="5050536" y="2203704"/>
            <a:ext cx="301752" cy="301752"/>
          </a:xfrm>
          <a:prstGeom prst="rect">
            <a:avLst/>
          </a:prstGeom>
        </p:spPr>
      </p:pic>
      <p:sp>
        <p:nvSpPr>
          <p:cNvPr id="19" name="Text to speech heading"/>
          <p:cNvSpPr txBox="1"/>
          <p:nvPr/>
        </p:nvSpPr>
        <p:spPr>
          <a:xfrm>
            <a:off x="4858512" y="28346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Text to speech</a:t>
            </a:r>
            <a:endParaRPr lang="en-US" sz="1800" dirty="0"/>
          </a:p>
        </p:txBody>
      </p:sp>
      <p:sp>
        <p:nvSpPr>
          <p:cNvPr id="20" name="Text to speech text"/>
          <p:cNvSpPr txBox="1"/>
          <p:nvPr/>
        </p:nvSpPr>
        <p:spPr>
          <a:xfrm>
            <a:off x="4858512" y="3246120"/>
            <a:ext cx="1554480" cy="1143000"/>
          </a:xfrm>
          <a:prstGeom prst="rect">
            <a:avLst/>
          </a:prstGeom>
          <a:noFill/>
          <a:ln/>
        </p:spPr>
        <p:txBody>
          <a:bodyPr wrap="square" lIns="0" tIns="0" rIns="0" bIns="0" rtlCol="0" anchor="t"/>
          <a:lstStyle/>
          <a:p>
            <a:pPr indent="0" marL="0">
              <a:buNone/>
            </a:pPr>
            <a:r>
              <a:rPr lang="en-US" sz="1400" dirty="0">
                <a:solidFill>
                  <a:schemeClr val="accent6"/>
                </a:solidFill>
              </a:rPr>
              <a:t>The podcast text is turned into spoken audio</a:t>
            </a:r>
            <a:endParaRPr lang="en-US" sz="1400" dirty="0"/>
          </a:p>
        </p:txBody>
      </p:sp>
      <p:pic>
        <p:nvPicPr>
          <p:cNvPr id="21" name="Arrow 3" descr="leads to">    </p:cNvPr>
          <p:cNvPicPr>
            <a:picLocks noChangeAspect="1"/>
          </p:cNvPicPr>
          <p:nvPr/>
        </p:nvPicPr>
        <p:blipFill>
          <a:blip r:embed="rId6"/>
          <a:stretch>
            <a:fillRect/>
          </a:stretch>
        </p:blipFill>
        <p:spPr>
          <a:xfrm>
            <a:off x="6553200" y="2743200"/>
            <a:ext cx="182880" cy="182880"/>
          </a:xfrm>
          <a:prstGeom prst="rect">
            <a:avLst/>
          </a:prstGeom>
        </p:spPr>
      </p:pic>
      <p:sp>
        <p:nvSpPr>
          <p:cNvPr id="22" name="Exam helper card"/>
          <p:cNvSpPr/>
          <p:nvPr/>
        </p:nvSpPr>
        <p:spPr>
          <a:xfrm>
            <a:off x="6766560" y="1828800"/>
            <a:ext cx="1828800" cy="2697480"/>
          </a:xfrm>
          <a:prstGeom prst="roundRect">
            <a:avLst>
              <a:gd name="adj" fmla="val 6000"/>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23" name="Exam helper circle"/>
          <p:cNvSpPr/>
          <p:nvPr/>
        </p:nvSpPr>
        <p:spPr>
          <a:xfrm>
            <a:off x="6931152" y="2011680"/>
            <a:ext cx="685800" cy="685800"/>
          </a:xfrm>
          <a:prstGeom prst="ellipse">
            <a:avLst/>
          </a:prstGeom>
          <a:solidFill>
            <a:schemeClr val="accent6"/>
          </a:solidFill>
          <a:ln w="12700">
            <a:solidFill>
              <a:schemeClr val="accent6"/>
            </a:solidFill>
            <a:prstDash val="solid"/>
          </a:ln>
        </p:spPr>
      </p:sp>
      <p:pic>
        <p:nvPicPr>
          <p:cNvPr id="24" name="Exam helper icon" descr="Exam helper">    </p:cNvPr>
          <p:cNvPicPr>
            <a:picLocks noChangeAspect="1"/>
          </p:cNvPicPr>
          <p:nvPr/>
        </p:nvPicPr>
        <p:blipFill>
          <a:blip r:embed="rId7"/>
          <a:stretch>
            <a:fillRect/>
          </a:stretch>
        </p:blipFill>
        <p:spPr>
          <a:xfrm>
            <a:off x="7123176" y="2203704"/>
            <a:ext cx="301752" cy="301752"/>
          </a:xfrm>
          <a:prstGeom prst="rect">
            <a:avLst/>
          </a:prstGeom>
        </p:spPr>
      </p:pic>
      <p:sp>
        <p:nvSpPr>
          <p:cNvPr id="25" name="Exam helper heading"/>
          <p:cNvSpPr txBox="1"/>
          <p:nvPr/>
        </p:nvSpPr>
        <p:spPr>
          <a:xfrm>
            <a:off x="6931152" y="28346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Exam helper</a:t>
            </a:r>
            <a:endParaRPr lang="en-US" sz="1800" dirty="0"/>
          </a:p>
        </p:txBody>
      </p:sp>
      <p:sp>
        <p:nvSpPr>
          <p:cNvPr id="26" name="Exam helper text"/>
          <p:cNvSpPr txBox="1"/>
          <p:nvPr/>
        </p:nvSpPr>
        <p:spPr>
          <a:xfrm>
            <a:off x="6931152" y="3246120"/>
            <a:ext cx="1554480" cy="1143000"/>
          </a:xfrm>
          <a:prstGeom prst="rect">
            <a:avLst/>
          </a:prstGeom>
          <a:noFill/>
          <a:ln/>
        </p:spPr>
        <p:txBody>
          <a:bodyPr wrap="square" lIns="0" tIns="0" rIns="0" bIns="0" rtlCol="0" anchor="t"/>
          <a:lstStyle/>
          <a:p>
            <a:pPr indent="0" marL="0">
              <a:buNone/>
            </a:pPr>
            <a:r>
              <a:rPr lang="en-US" sz="1400" dirty="0">
                <a:solidFill>
                  <a:schemeClr val="accent6"/>
                </a:solidFill>
              </a:rPr>
              <a:t>3 exam questions, with answers at the end of the text output</a:t>
            </a:r>
            <a:endParaRPr lang="en-US" sz="1400" dirty="0"/>
          </a:p>
        </p:txBody>
      </p:sp>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rPr>
              <a:t>Exam helper: practice questions</a:t>
            </a:r>
            <a:endParaRPr lang="en-US" sz="3600" dirty="0"/>
          </a:p>
        </p:txBody>
      </p:sp>
      <p:sp>
        <p:nvSpPr>
          <p:cNvPr id="3" name="Questions card"/>
          <p:cNvSpPr/>
          <p:nvPr/>
        </p:nvSpPr>
        <p:spPr>
          <a:xfrm>
            <a:off x="548640" y="1280160"/>
            <a:ext cx="3657600" cy="3200400"/>
          </a:xfrm>
          <a:prstGeom prst="roundRect">
            <a:avLst>
              <a:gd name="adj" fmla="val 3429"/>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4" name="Questions circle"/>
          <p:cNvSpPr/>
          <p:nvPr/>
        </p:nvSpPr>
        <p:spPr>
          <a:xfrm>
            <a:off x="822960" y="1554480"/>
            <a:ext cx="640080" cy="640080"/>
          </a:xfrm>
          <a:prstGeom prst="ellipse">
            <a:avLst/>
          </a:prstGeom>
          <a:solidFill>
            <a:schemeClr val="accent3"/>
          </a:solidFill>
          <a:ln w="12700">
            <a:solidFill>
              <a:schemeClr val="accent3"/>
            </a:solidFill>
            <a:prstDash val="solid"/>
          </a:ln>
        </p:spPr>
      </p:sp>
      <p:pic>
        <p:nvPicPr>
          <p:cNvPr id="5" name="Questions icon" descr="Questions">    </p:cNvPr>
          <p:cNvPicPr>
            <a:picLocks noChangeAspect="1"/>
          </p:cNvPicPr>
          <p:nvPr/>
        </p:nvPicPr>
        <p:blipFill>
          <a:blip r:embed="rId1"/>
          <a:stretch>
            <a:fillRect/>
          </a:stretch>
        </p:blipFill>
        <p:spPr>
          <a:xfrm>
            <a:off x="1002182" y="1733702"/>
            <a:ext cx="281635" cy="281635"/>
          </a:xfrm>
          <a:prstGeom prst="rect">
            <a:avLst/>
          </a:prstGeom>
        </p:spPr>
      </p:pic>
      <p:sp>
        <p:nvSpPr>
          <p:cNvPr id="6" name="Questions heading"/>
          <p:cNvSpPr txBox="1"/>
          <p:nvPr/>
        </p:nvSpPr>
        <p:spPr>
          <a:xfrm>
            <a:off x="822960" y="2377440"/>
            <a:ext cx="310896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3 practice questions</a:t>
            </a:r>
            <a:endParaRPr lang="en-US" sz="2400" dirty="0"/>
          </a:p>
        </p:txBody>
      </p:sp>
      <p:sp>
        <p:nvSpPr>
          <p:cNvPr id="7" name="Questions text"/>
          <p:cNvSpPr txBox="1"/>
          <p:nvPr/>
        </p:nvSpPr>
        <p:spPr>
          <a:xfrm>
            <a:off x="822960" y="2880360"/>
            <a:ext cx="3108960" cy="548640"/>
          </a:xfrm>
          <a:prstGeom prst="rect">
            <a:avLst/>
          </a:prstGeom>
          <a:noFill/>
          <a:ln/>
        </p:spPr>
        <p:txBody>
          <a:bodyPr wrap="square" lIns="0" tIns="0" rIns="0" bIns="0" rtlCol="0" anchor="t"/>
          <a:lstStyle/>
          <a:p>
            <a:pPr indent="0" marL="0">
              <a:buNone/>
            </a:pPr>
            <a:r>
              <a:rPr lang="en-US" sz="1600" dirty="0">
                <a:solidFill>
                  <a:schemeClr val="accent6"/>
                </a:solidFill>
              </a:rPr>
              <a:t>Exam practice questions about the text</a:t>
            </a:r>
            <a:endParaRPr lang="en-US" sz="1600" dirty="0"/>
          </a:p>
        </p:txBody>
      </p:sp>
      <p:sp>
        <p:nvSpPr>
          <p:cNvPr id="8" name="Q1 badge"/>
          <p:cNvSpPr/>
          <p:nvPr/>
        </p:nvSpPr>
        <p:spPr>
          <a:xfrm>
            <a:off x="822960" y="3657600"/>
            <a:ext cx="594360" cy="5943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Q1</a:t>
            </a:r>
            <a:endParaRPr lang="en-US" sz="1600" dirty="0"/>
          </a:p>
        </p:txBody>
      </p:sp>
      <p:sp>
        <p:nvSpPr>
          <p:cNvPr id="9" name="Q2 badge"/>
          <p:cNvSpPr/>
          <p:nvPr/>
        </p:nvSpPr>
        <p:spPr>
          <a:xfrm>
            <a:off x="1600200" y="3657600"/>
            <a:ext cx="594360" cy="5943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Q2</a:t>
            </a:r>
            <a:endParaRPr lang="en-US" sz="1600" dirty="0"/>
          </a:p>
        </p:txBody>
      </p:sp>
      <p:sp>
        <p:nvSpPr>
          <p:cNvPr id="10" name="Q3 badge"/>
          <p:cNvSpPr/>
          <p:nvPr/>
        </p:nvSpPr>
        <p:spPr>
          <a:xfrm>
            <a:off x="2377440" y="3657600"/>
            <a:ext cx="594360" cy="5943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Q3</a:t>
            </a:r>
            <a:endParaRPr lang="en-US" sz="1600" dirty="0"/>
          </a:p>
        </p:txBody>
      </p:sp>
      <p:pic>
        <p:nvPicPr>
          <p:cNvPr id="11" name="Arrow" descr="followed by">    </p:cNvPr>
          <p:cNvPicPr>
            <a:picLocks noChangeAspect="1"/>
          </p:cNvPicPr>
          <p:nvPr/>
        </p:nvPicPr>
        <p:blipFill>
          <a:blip r:embed="rId2"/>
          <a:stretch>
            <a:fillRect/>
          </a:stretch>
        </p:blipFill>
        <p:spPr>
          <a:xfrm>
            <a:off x="4389120" y="2697480"/>
            <a:ext cx="365760" cy="365760"/>
          </a:xfrm>
          <a:prstGeom prst="rect">
            <a:avLst/>
          </a:prstGeom>
        </p:spPr>
      </p:pic>
      <p:sp>
        <p:nvSpPr>
          <p:cNvPr id="12" name="Answers card"/>
          <p:cNvSpPr/>
          <p:nvPr/>
        </p:nvSpPr>
        <p:spPr>
          <a:xfrm>
            <a:off x="4937760" y="1280160"/>
            <a:ext cx="3657600" cy="3200400"/>
          </a:xfrm>
          <a:prstGeom prst="roundRect">
            <a:avLst>
              <a:gd name="adj" fmla="val 3429"/>
            </a:avLst>
          </a:prstGeom>
          <a:solidFill>
            <a:schemeClr val="tx1"/>
          </a:solidFill>
          <a:ln w="12700">
            <a:solidFill>
              <a:schemeClr val="tx1"/>
            </a:solidFill>
            <a:prstDash val="solid"/>
          </a:ln>
          <a:effectLst>
            <a:outerShdw sx="100000" sy="100000" kx="0" ky="0" algn="bl" rotWithShape="0" blurRad="127000" dist="38100" dir="5400000">
              <a:srgbClr val="000000">
                <a:alpha val="12000"/>
              </a:srgbClr>
            </a:outerShdw>
          </a:effectLst>
        </p:spPr>
      </p:sp>
      <p:sp>
        <p:nvSpPr>
          <p:cNvPr id="13" name="Answers circle"/>
          <p:cNvSpPr/>
          <p:nvPr/>
        </p:nvSpPr>
        <p:spPr>
          <a:xfrm>
            <a:off x="5212080" y="1554480"/>
            <a:ext cx="640080" cy="640080"/>
          </a:xfrm>
          <a:prstGeom prst="ellipse">
            <a:avLst/>
          </a:prstGeom>
          <a:solidFill>
            <a:schemeClr val="accent1"/>
          </a:solidFill>
          <a:ln w="12700">
            <a:solidFill>
              <a:schemeClr val="accent1"/>
            </a:solidFill>
            <a:prstDash val="solid"/>
          </a:ln>
        </p:spPr>
      </p:sp>
      <p:pic>
        <p:nvPicPr>
          <p:cNvPr id="14" name="Answers icon" descr="Answers">    </p:cNvPr>
          <p:cNvPicPr>
            <a:picLocks noChangeAspect="1"/>
          </p:cNvPicPr>
          <p:nvPr/>
        </p:nvPicPr>
        <p:blipFill>
          <a:blip r:embed="rId3"/>
          <a:stretch>
            <a:fillRect/>
          </a:stretch>
        </p:blipFill>
        <p:spPr>
          <a:xfrm>
            <a:off x="5391302" y="1733702"/>
            <a:ext cx="281635" cy="281635"/>
          </a:xfrm>
          <a:prstGeom prst="rect">
            <a:avLst/>
          </a:prstGeom>
        </p:spPr>
      </p:pic>
      <p:sp>
        <p:nvSpPr>
          <p:cNvPr id="15" name="Answers heading"/>
          <p:cNvSpPr txBox="1"/>
          <p:nvPr/>
        </p:nvSpPr>
        <p:spPr>
          <a:xfrm>
            <a:off x="5212080" y="2377440"/>
            <a:ext cx="310896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3 answers</a:t>
            </a:r>
            <a:endParaRPr lang="en-US" sz="2400" dirty="0"/>
          </a:p>
        </p:txBody>
      </p:sp>
      <p:sp>
        <p:nvSpPr>
          <p:cNvPr id="16" name="Answers text"/>
          <p:cNvSpPr txBox="1"/>
          <p:nvPr/>
        </p:nvSpPr>
        <p:spPr>
          <a:xfrm>
            <a:off x="5212080" y="2880360"/>
            <a:ext cx="3108960" cy="548640"/>
          </a:xfrm>
          <a:prstGeom prst="rect">
            <a:avLst/>
          </a:prstGeom>
          <a:noFill/>
          <a:ln/>
        </p:spPr>
        <p:txBody>
          <a:bodyPr wrap="square" lIns="0" tIns="0" rIns="0" bIns="0" rtlCol="0" anchor="t"/>
          <a:lstStyle/>
          <a:p>
            <a:pPr indent="0" marL="0">
              <a:buNone/>
            </a:pPr>
            <a:r>
              <a:rPr lang="en-US" sz="1600" dirty="0">
                <a:solidFill>
                  <a:schemeClr val="bg2"/>
                </a:solidFill>
              </a:rPr>
              <a:t>Given at the end of the text output</a:t>
            </a:r>
            <a:endParaRPr lang="en-US" sz="1600" dirty="0"/>
          </a:p>
        </p:txBody>
      </p:sp>
      <p:sp>
        <p:nvSpPr>
          <p:cNvPr id="17" name="A1 badge"/>
          <p:cNvSpPr/>
          <p:nvPr/>
        </p:nvSpPr>
        <p:spPr>
          <a:xfrm>
            <a:off x="5212080" y="3657600"/>
            <a:ext cx="594360" cy="5943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tx1"/>
                </a:solidFill>
              </a:rPr>
              <a:t>A1</a:t>
            </a:r>
            <a:endParaRPr lang="en-US" sz="1600" dirty="0"/>
          </a:p>
        </p:txBody>
      </p:sp>
      <p:sp>
        <p:nvSpPr>
          <p:cNvPr id="18" name="A2 badge"/>
          <p:cNvSpPr/>
          <p:nvPr/>
        </p:nvSpPr>
        <p:spPr>
          <a:xfrm>
            <a:off x="5989320" y="3657600"/>
            <a:ext cx="594360" cy="5943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tx1"/>
                </a:solidFill>
              </a:rPr>
              <a:t>A2</a:t>
            </a:r>
            <a:endParaRPr lang="en-US" sz="1600" dirty="0"/>
          </a:p>
        </p:txBody>
      </p:sp>
      <p:sp>
        <p:nvSpPr>
          <p:cNvPr id="19" name="A3 badge"/>
          <p:cNvSpPr/>
          <p:nvPr/>
        </p:nvSpPr>
        <p:spPr>
          <a:xfrm>
            <a:off x="6766560" y="3657600"/>
            <a:ext cx="594360" cy="5943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tx1"/>
                </a:solidFill>
              </a:rPr>
              <a:t>A3</a:t>
            </a:r>
            <a:endParaRPr lang="en-US" sz="1600" dirty="0"/>
          </a:p>
        </p:txBody>
      </p:sp>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alo"/>
          <p:cNvSpPr/>
          <p:nvPr/>
        </p:nvSpPr>
        <p:spPr>
          <a:xfrm>
            <a:off x="3657600" y="640080"/>
            <a:ext cx="1828800" cy="1828800"/>
          </a:xfrm>
          <a:prstGeom prst="ellipse">
            <a:avLst/>
          </a:prstGeom>
          <a:solidFill>
            <a:schemeClr val="accent1">
              <a:alpha val="25000"/>
            </a:schemeClr>
          </a:solidFill>
          <a:ln w="12700">
            <a:solidFill>
              <a:schemeClr val="accent1"/>
            </a:solidFill>
            <a:prstDash val="solid"/>
          </a:ln>
        </p:spPr>
      </p:sp>
      <p:sp>
        <p:nvSpPr>
          <p:cNvPr id="3" name="Play circle"/>
          <p:cNvSpPr/>
          <p:nvPr/>
        </p:nvSpPr>
        <p:spPr>
          <a:xfrm>
            <a:off x="3977640" y="960120"/>
            <a:ext cx="1188720" cy="1188720"/>
          </a:xfrm>
          <a:prstGeom prst="ellipse">
            <a:avLst/>
          </a:prstGeom>
          <a:solidFill>
            <a:schemeClr val="accent1"/>
          </a:solidFill>
          <a:ln w="12700">
            <a:solidFill>
              <a:schemeClr val="accent1"/>
            </a:solidFill>
            <a:prstDash val="solid"/>
          </a:ln>
        </p:spPr>
      </p:sp>
      <p:pic>
        <p:nvPicPr>
          <p:cNvPr id="4" name="Play icon" descr="Play">    </p:cNvPr>
          <p:cNvPicPr>
            <a:picLocks noChangeAspect="1"/>
          </p:cNvPicPr>
          <p:nvPr/>
        </p:nvPicPr>
        <p:blipFill>
          <a:blip r:embed="rId1"/>
          <a:stretch>
            <a:fillRect/>
          </a:stretch>
        </p:blipFill>
        <p:spPr>
          <a:xfrm>
            <a:off x="4310482" y="1292962"/>
            <a:ext cx="523037" cy="523037"/>
          </a:xfrm>
          <a:prstGeom prst="rect">
            <a:avLst/>
          </a:prstGeom>
        </p:spPr>
      </p:pic>
      <p:sp>
        <p:nvSpPr>
          <p:cNvPr id="5" name="Text 0"/>
          <p:cNvSpPr/>
          <p:nvPr>
            <p:ph idx="100" type="title" hasCustomPrompt="1"/>
          </p:nvPr>
        </p:nvSpPr>
        <p:spPr>
          <a:xfrm>
            <a:off x="640080" y="2468880"/>
            <a:ext cx="7863840" cy="1005840"/>
          </a:xfrm>
          <a:prstGeom prst="rect">
            <a:avLst/>
          </a:prstGeom>
          <a:noFill/>
          <a:ln/>
        </p:spPr>
        <p:txBody>
          <a:bodyPr wrap="square" lIns="0" tIns="0" rIns="0" bIns="0" rtlCol="0" anchor="ctr"/>
          <a:lstStyle/>
          <a:p>
            <a:pPr algn="ctr" indent="0" marL="0">
              <a:buNone/>
            </a:pPr>
            <a:r>
              <a:rPr lang="en-US" sz="5400" b="1" dirty="0">
                <a:solidFill>
                  <a:schemeClr val="bg1"/>
                </a:solidFill>
              </a:rPr>
              <a:t>DEMO</a:t>
            </a:r>
            <a:endParaRPr lang="en-US" sz="5400" dirty="0"/>
          </a:p>
        </p:txBody>
      </p:sp>
      <p:sp>
        <p:nvSpPr>
          <p:cNvPr id="6" name="Text 0"/>
          <p:cNvSpPr/>
          <p:nvPr>
            <p:ph idx="101" type="body" hasCustomPrompt="1"/>
          </p:nvPr>
        </p:nvSpPr>
        <p:spPr>
          <a:xfrm>
            <a:off x="640080" y="3520440"/>
            <a:ext cx="7863840" cy="548640"/>
          </a:xfrm>
          <a:prstGeom prst="rect">
            <a:avLst/>
          </a:prstGeom>
          <a:noFill/>
          <a:ln/>
        </p:spPr>
        <p:txBody>
          <a:bodyPr wrap="square" lIns="0" tIns="0" rIns="0" bIns="0" rtlCol="0" anchor="t"/>
          <a:lstStyle/>
          <a:p>
            <a:pPr algn="ctr" indent="0" marL="0">
              <a:buNone/>
            </a:pPr>
            <a:r>
              <a:rPr lang="en-US" sz="2000" dirty="0">
                <a:solidFill>
                  <a:schemeClr val="bg2"/>
                </a:solidFill>
              </a:rPr>
              <a:t>See it in action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rPr>
              <a:t>Key takeaway: model use error</a:t>
            </a:r>
            <a:endParaRPr lang="en-US" sz="3600" dirty="0"/>
          </a:p>
        </p:txBody>
      </p:sp>
      <p:sp>
        <p:nvSpPr>
          <p:cNvPr id="3" name="Problem card"/>
          <p:cNvSpPr/>
          <p:nvPr/>
        </p:nvSpPr>
        <p:spPr>
          <a:xfrm>
            <a:off x="548640" y="1280160"/>
            <a:ext cx="3931920"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4" name="Bug circle"/>
          <p:cNvSpPr/>
          <p:nvPr/>
        </p:nvSpPr>
        <p:spPr>
          <a:xfrm>
            <a:off x="777240" y="1463040"/>
            <a:ext cx="548640" cy="548640"/>
          </a:xfrm>
          <a:prstGeom prst="ellipse">
            <a:avLst/>
          </a:prstGeom>
          <a:solidFill>
            <a:schemeClr val="accent1"/>
          </a:solidFill>
          <a:ln w="12700">
            <a:solidFill>
              <a:schemeClr val="accent1"/>
            </a:solidFill>
            <a:prstDash val="solid"/>
          </a:ln>
        </p:spPr>
      </p:sp>
      <p:pic>
        <p:nvPicPr>
          <p:cNvPr id="5" name="Bug icon" descr="Bug">    </p:cNvPr>
          <p:cNvPicPr>
            <a:picLocks noChangeAspect="1"/>
          </p:cNvPicPr>
          <p:nvPr/>
        </p:nvPicPr>
        <p:blipFill>
          <a:blip r:embed="rId1"/>
          <a:stretch>
            <a:fillRect/>
          </a:stretch>
        </p:blipFill>
        <p:spPr>
          <a:xfrm>
            <a:off x="930859" y="1616659"/>
            <a:ext cx="241402" cy="241402"/>
          </a:xfrm>
          <a:prstGeom prst="rect">
            <a:avLst/>
          </a:prstGeom>
        </p:spPr>
      </p:pic>
      <p:sp>
        <p:nvSpPr>
          <p:cNvPr id="6" name="Problem heading"/>
          <p:cNvSpPr txBox="1"/>
          <p:nvPr/>
        </p:nvSpPr>
        <p:spPr>
          <a:xfrm>
            <a:off x="1508760" y="1463040"/>
            <a:ext cx="2743200" cy="548640"/>
          </a:xfrm>
          <a:prstGeom prst="rect">
            <a:avLst/>
          </a:prstGeom>
          <a:noFill/>
          <a:ln/>
        </p:spPr>
        <p:txBody>
          <a:bodyPr wrap="square" lIns="0" tIns="0" rIns="0" bIns="0" rtlCol="0" anchor="ctr"/>
          <a:lstStyle/>
          <a:p>
            <a:pPr indent="0" marL="0">
              <a:buNone/>
            </a:pPr>
            <a:r>
              <a:rPr lang="en-US" sz="2000" b="1" dirty="0">
                <a:solidFill>
                  <a:schemeClr val="tx1"/>
                </a:solidFill>
              </a:rPr>
              <a:t>What went wrong</a:t>
            </a:r>
            <a:endParaRPr lang="en-US" sz="2000" dirty="0"/>
          </a:p>
        </p:txBody>
      </p:sp>
      <p:sp>
        <p:nvSpPr>
          <p:cNvPr id="7" name="Problem text"/>
          <p:cNvSpPr txBox="1"/>
          <p:nvPr/>
        </p:nvSpPr>
        <p:spPr>
          <a:xfrm>
            <a:off x="777240" y="2148840"/>
            <a:ext cx="352044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Running the whole script with “gpt-4o-mini-TTS” raised an error</a:t>
            </a:r>
            <a:endParaRPr lang="en-US" sz="1400" dirty="0"/>
          </a:p>
          <a:p>
            <a:pPr marL="342900" indent="-342900">
              <a:spcAft>
                <a:spcPts val="600"/>
              </a:spcAft>
              <a:buSzPct val="100000"/>
              <a:buChar char="•"/>
            </a:pPr>
            <a:r>
              <a:rPr lang="en-US" sz="1400" dirty="0">
                <a:solidFill>
                  <a:schemeClr val="tx2"/>
                </a:solidFill>
              </a:rPr>
              <a:t>With “tts-1” the script ran without errors</a:t>
            </a:r>
            <a:endParaRPr lang="en-US" sz="1400" dirty="0"/>
          </a:p>
          <a:p>
            <a:pPr marL="342900" indent="-342900">
              <a:spcAft>
                <a:spcPts val="600"/>
              </a:spcAft>
              <a:buSzPct val="100000"/>
              <a:buChar char="•"/>
            </a:pPr>
            <a:r>
              <a:rPr lang="en-US" sz="1400" dirty="0">
                <a:solidFill>
                  <a:schemeClr val="tx2"/>
                </a:solidFill>
              </a:rPr>
              <a:t>We still wanted the features of “gpt-4o-mini-TTS”</a:t>
            </a:r>
            <a:endParaRPr lang="en-US" sz="1400" dirty="0"/>
          </a:p>
        </p:txBody>
      </p:sp>
      <p:sp>
        <p:nvSpPr>
          <p:cNvPr id="8" name="Fix card"/>
          <p:cNvSpPr/>
          <p:nvPr/>
        </p:nvSpPr>
        <p:spPr>
          <a:xfrm>
            <a:off x="4663440" y="1280160"/>
            <a:ext cx="3931920"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9" name="Wrench circle"/>
          <p:cNvSpPr/>
          <p:nvPr/>
        </p:nvSpPr>
        <p:spPr>
          <a:xfrm>
            <a:off x="4892040" y="1463040"/>
            <a:ext cx="548640" cy="548640"/>
          </a:xfrm>
          <a:prstGeom prst="ellipse">
            <a:avLst/>
          </a:prstGeom>
          <a:solidFill>
            <a:schemeClr val="accent4"/>
          </a:solidFill>
          <a:ln w="12700">
            <a:solidFill>
              <a:schemeClr val="accent4"/>
            </a:solidFill>
            <a:prstDash val="solid"/>
          </a:ln>
        </p:spPr>
      </p:sp>
      <p:pic>
        <p:nvPicPr>
          <p:cNvPr id="10" name="Wrench icon" descr="Wrench">    </p:cNvPr>
          <p:cNvPicPr>
            <a:picLocks noChangeAspect="1"/>
          </p:cNvPicPr>
          <p:nvPr/>
        </p:nvPicPr>
        <p:blipFill>
          <a:blip r:embed="rId2"/>
          <a:stretch>
            <a:fillRect/>
          </a:stretch>
        </p:blipFill>
        <p:spPr>
          <a:xfrm>
            <a:off x="5045659" y="1616659"/>
            <a:ext cx="241402" cy="241402"/>
          </a:xfrm>
          <a:prstGeom prst="rect">
            <a:avLst/>
          </a:prstGeom>
        </p:spPr>
      </p:pic>
      <p:sp>
        <p:nvSpPr>
          <p:cNvPr id="11" name="Fix heading"/>
          <p:cNvSpPr txBox="1"/>
          <p:nvPr/>
        </p:nvSpPr>
        <p:spPr>
          <a:xfrm>
            <a:off x="5623560" y="1463040"/>
            <a:ext cx="2743200" cy="548640"/>
          </a:xfrm>
          <a:prstGeom prst="rect">
            <a:avLst/>
          </a:prstGeom>
          <a:noFill/>
          <a:ln/>
        </p:spPr>
        <p:txBody>
          <a:bodyPr wrap="square" lIns="0" tIns="0" rIns="0" bIns="0" rtlCol="0" anchor="ctr"/>
          <a:lstStyle/>
          <a:p>
            <a:pPr indent="0" marL="0">
              <a:buNone/>
            </a:pPr>
            <a:r>
              <a:rPr lang="en-US" sz="2000" b="1" dirty="0">
                <a:solidFill>
                  <a:schemeClr val="tx1"/>
                </a:solidFill>
              </a:rPr>
              <a:t>How we solved it</a:t>
            </a:r>
            <a:endParaRPr lang="en-US" sz="2000" dirty="0"/>
          </a:p>
        </p:txBody>
      </p:sp>
      <p:sp>
        <p:nvSpPr>
          <p:cNvPr id="12" name="Fix text"/>
          <p:cNvSpPr txBox="1"/>
          <p:nvPr/>
        </p:nvSpPr>
        <p:spPr>
          <a:xfrm>
            <a:off x="4892040" y="2148840"/>
            <a:ext cx="352044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Sergii found exactly where the error occurred</a:t>
            </a:r>
            <a:endParaRPr lang="en-US" sz="1400" dirty="0"/>
          </a:p>
          <a:p>
            <a:pPr marL="342900" indent="-342900">
              <a:spcAft>
                <a:spcPts val="600"/>
              </a:spcAft>
              <a:buSzPct val="100000"/>
              <a:buChar char="•"/>
            </a:pPr>
            <a:r>
              <a:rPr lang="en-US" sz="1400" dirty="0">
                <a:solidFill>
                  <a:schemeClr val="tx2"/>
                </a:solidFill>
              </a:rPr>
              <a:t>That part runs with the “tts-1” model</a:t>
            </a:r>
            <a:endParaRPr lang="en-US" sz="1400" dirty="0"/>
          </a:p>
          <a:p>
            <a:pPr marL="342900" indent="-342900">
              <a:spcAft>
                <a:spcPts val="600"/>
              </a:spcAft>
              <a:buSzPct val="100000"/>
              <a:buChar char="•"/>
            </a:pPr>
            <a:r>
              <a:rPr lang="en-US" sz="1400" dirty="0">
                <a:solidFill>
                  <a:schemeClr val="tx2"/>
                </a:solidFill>
              </a:rPr>
              <a:t>The rest runs with “gpt-4o-mini-TTS”</a:t>
            </a:r>
            <a:endParaRPr lang="en-US" sz="1400" dirty="0"/>
          </a:p>
        </p:txBody>
      </p:sp>
      <p:sp>
        <p:nvSpPr>
          <p:cNvPr id="13" name="Result banner"/>
          <p:cNvSpPr/>
          <p:nvPr/>
        </p:nvSpPr>
        <p:spPr>
          <a:xfrm>
            <a:off x="548640" y="3931920"/>
            <a:ext cx="8046720" cy="594360"/>
          </a:xfrm>
          <a:prstGeom prst="roundRect">
            <a:avLst>
              <a:gd name="adj" fmla="val 18462"/>
            </a:avLst>
          </a:prstGeom>
          <a:solidFill>
            <a:schemeClr val="tx1"/>
          </a:solidFill>
          <a:ln w="12700">
            <a:solidFill>
              <a:schemeClr val="tx1"/>
            </a:solidFill>
            <a:prstDash val="solid"/>
          </a:ln>
        </p:spPr>
      </p:sp>
      <p:pic>
        <p:nvPicPr>
          <p:cNvPr id="14" name="Check icon" descr="result">    </p:cNvPr>
          <p:cNvPicPr>
            <a:picLocks noChangeAspect="1"/>
          </p:cNvPicPr>
          <p:nvPr/>
        </p:nvPicPr>
        <p:blipFill>
          <a:blip r:embed="rId3"/>
          <a:stretch>
            <a:fillRect/>
          </a:stretch>
        </p:blipFill>
        <p:spPr>
          <a:xfrm>
            <a:off x="777240" y="4096512"/>
            <a:ext cx="274320" cy="274320"/>
          </a:xfrm>
          <a:prstGeom prst="rect">
            <a:avLst/>
          </a:prstGeom>
        </p:spPr>
      </p:pic>
      <p:sp>
        <p:nvSpPr>
          <p:cNvPr id="15" name="Result text"/>
          <p:cNvSpPr txBox="1"/>
          <p:nvPr/>
        </p:nvSpPr>
        <p:spPr>
          <a:xfrm>
            <a:off x="1188720" y="3931920"/>
            <a:ext cx="7223760" cy="594360"/>
          </a:xfrm>
          <a:prstGeom prst="rect">
            <a:avLst/>
          </a:prstGeom>
          <a:noFill/>
          <a:ln/>
        </p:spPr>
        <p:txBody>
          <a:bodyPr wrap="square" lIns="0" tIns="0" rIns="0" bIns="0" rtlCol="0" anchor="ctr"/>
          <a:lstStyle/>
          <a:p>
            <a:pPr indent="0" marL="0">
              <a:buNone/>
            </a:pPr>
            <a:r>
              <a:rPr lang="en-US" sz="1600" b="1" dirty="0">
                <a:solidFill>
                  <a:schemeClr val="bg1"/>
                </a:solidFill>
              </a:rPr>
              <a:t>Result: functionality like voice selection became possible</a:t>
            </a:r>
            <a:endParaRPr lang="en-US" sz="1600" dirty="0"/>
          </a:p>
        </p:txBody>
      </p:sp>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rPr>
              <a:t>Key takeaways: team, code, hosting</a:t>
            </a:r>
            <a:endParaRPr lang="en-US" sz="3600" dirty="0"/>
          </a:p>
        </p:txBody>
      </p:sp>
      <p:sp>
        <p:nvSpPr>
          <p:cNvPr id="3" name="Team work card"/>
          <p:cNvSpPr/>
          <p:nvPr/>
        </p:nvSpPr>
        <p:spPr>
          <a:xfrm>
            <a:off x="548640" y="1280160"/>
            <a:ext cx="2468880" cy="3246120"/>
          </a:xfrm>
          <a:prstGeom prst="roundRect">
            <a:avLst>
              <a:gd name="adj" fmla="val 4444"/>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4" name="Team work circle"/>
          <p:cNvSpPr/>
          <p:nvPr/>
        </p:nvSpPr>
        <p:spPr>
          <a:xfrm>
            <a:off x="777240" y="1508760"/>
            <a:ext cx="640080" cy="640080"/>
          </a:xfrm>
          <a:prstGeom prst="ellipse">
            <a:avLst/>
          </a:prstGeom>
          <a:solidFill>
            <a:schemeClr val="accent3"/>
          </a:solidFill>
          <a:ln w="12700">
            <a:solidFill>
              <a:schemeClr val="accent3"/>
            </a:solidFill>
            <a:prstDash val="solid"/>
          </a:ln>
        </p:spPr>
      </p:sp>
      <p:pic>
        <p:nvPicPr>
          <p:cNvPr id="5" name="Team work icon" descr="Team work">    </p:cNvPr>
          <p:cNvPicPr>
            <a:picLocks noChangeAspect="1"/>
          </p:cNvPicPr>
          <p:nvPr/>
        </p:nvPicPr>
        <p:blipFill>
          <a:blip r:embed="rId1"/>
          <a:stretch>
            <a:fillRect/>
          </a:stretch>
        </p:blipFill>
        <p:spPr>
          <a:xfrm>
            <a:off x="956462" y="1687982"/>
            <a:ext cx="281635" cy="281635"/>
          </a:xfrm>
          <a:prstGeom prst="rect">
            <a:avLst/>
          </a:prstGeom>
        </p:spPr>
      </p:pic>
      <p:sp>
        <p:nvSpPr>
          <p:cNvPr id="6" name="Team work heading"/>
          <p:cNvSpPr txBox="1"/>
          <p:nvPr/>
        </p:nvSpPr>
        <p:spPr>
          <a:xfrm>
            <a:off x="777240" y="2286000"/>
            <a:ext cx="2011680" cy="365760"/>
          </a:xfrm>
          <a:prstGeom prst="rect">
            <a:avLst/>
          </a:prstGeom>
          <a:noFill/>
          <a:ln/>
        </p:spPr>
        <p:txBody>
          <a:bodyPr wrap="square" lIns="0" tIns="0" rIns="0" bIns="0" rtlCol="0" anchor="ctr"/>
          <a:lstStyle/>
          <a:p>
            <a:pPr indent="0" marL="0">
              <a:buNone/>
            </a:pPr>
            <a:r>
              <a:rPr lang="en-US" sz="2000" b="1" dirty="0">
                <a:solidFill>
                  <a:schemeClr val="tx1"/>
                </a:solidFill>
              </a:rPr>
              <a:t>Team work</a:t>
            </a:r>
            <a:endParaRPr lang="en-US" sz="2000" dirty="0"/>
          </a:p>
        </p:txBody>
      </p:sp>
      <p:sp>
        <p:nvSpPr>
          <p:cNvPr id="7" name="Team work text"/>
          <p:cNvSpPr txBox="1"/>
          <p:nvPr/>
        </p:nvSpPr>
        <p:spPr>
          <a:xfrm>
            <a:off x="777240" y="2743200"/>
            <a:ext cx="2011680" cy="1645920"/>
          </a:xfrm>
          <a:prstGeom prst="rect">
            <a:avLst/>
          </a:prstGeom>
          <a:noFill/>
          <a:ln/>
        </p:spPr>
        <p:txBody>
          <a:bodyPr wrap="square" lIns="0" tIns="0" rIns="0" bIns="0" rtlCol="0" anchor="t"/>
          <a:lstStyle/>
          <a:p>
            <a:pPr indent="0" marL="0">
              <a:buNone/>
            </a:pPr>
            <a:r>
              <a:rPr lang="en-US" sz="1400" dirty="0">
                <a:solidFill>
                  <a:schemeClr val="accent6"/>
                </a:solidFill>
              </a:rPr>
              <a:t>With two team members, a clear structure and division of tasks worked really well. Management experience in the team may have been an advantage.</a:t>
            </a:r>
            <a:endParaRPr lang="en-US" sz="1400" dirty="0"/>
          </a:p>
        </p:txBody>
      </p:sp>
      <p:sp>
        <p:nvSpPr>
          <p:cNvPr id="8" name="Git integration card"/>
          <p:cNvSpPr/>
          <p:nvPr/>
        </p:nvSpPr>
        <p:spPr>
          <a:xfrm>
            <a:off x="3337560" y="1280160"/>
            <a:ext cx="2468880" cy="3246120"/>
          </a:xfrm>
          <a:prstGeom prst="roundRect">
            <a:avLst>
              <a:gd name="adj" fmla="val 4444"/>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9" name="Git integration circle"/>
          <p:cNvSpPr/>
          <p:nvPr/>
        </p:nvSpPr>
        <p:spPr>
          <a:xfrm>
            <a:off x="3566160" y="1508760"/>
            <a:ext cx="640080" cy="640080"/>
          </a:xfrm>
          <a:prstGeom prst="ellipse">
            <a:avLst/>
          </a:prstGeom>
          <a:solidFill>
            <a:schemeClr val="accent1"/>
          </a:solidFill>
          <a:ln w="12700">
            <a:solidFill>
              <a:schemeClr val="accent1"/>
            </a:solidFill>
            <a:prstDash val="solid"/>
          </a:ln>
        </p:spPr>
      </p:sp>
      <p:pic>
        <p:nvPicPr>
          <p:cNvPr id="10" name="Git integration icon" descr="Git integration">    </p:cNvPr>
          <p:cNvPicPr>
            <a:picLocks noChangeAspect="1"/>
          </p:cNvPicPr>
          <p:nvPr/>
        </p:nvPicPr>
        <p:blipFill>
          <a:blip r:embed="rId2"/>
          <a:stretch>
            <a:fillRect/>
          </a:stretch>
        </p:blipFill>
        <p:spPr>
          <a:xfrm>
            <a:off x="3745382" y="1687982"/>
            <a:ext cx="281635" cy="281635"/>
          </a:xfrm>
          <a:prstGeom prst="rect">
            <a:avLst/>
          </a:prstGeom>
        </p:spPr>
      </p:pic>
      <p:sp>
        <p:nvSpPr>
          <p:cNvPr id="11" name="Git integration heading"/>
          <p:cNvSpPr txBox="1"/>
          <p:nvPr/>
        </p:nvSpPr>
        <p:spPr>
          <a:xfrm>
            <a:off x="3566160" y="2286000"/>
            <a:ext cx="2011680" cy="365760"/>
          </a:xfrm>
          <a:prstGeom prst="rect">
            <a:avLst/>
          </a:prstGeom>
          <a:noFill/>
          <a:ln/>
        </p:spPr>
        <p:txBody>
          <a:bodyPr wrap="square" lIns="0" tIns="0" rIns="0" bIns="0" rtlCol="0" anchor="ctr"/>
          <a:lstStyle/>
          <a:p>
            <a:pPr indent="0" marL="0">
              <a:buNone/>
            </a:pPr>
            <a:r>
              <a:rPr lang="en-US" sz="2000" b="1" dirty="0">
                <a:solidFill>
                  <a:schemeClr val="tx1"/>
                </a:solidFill>
              </a:rPr>
              <a:t>Git &amp; integration</a:t>
            </a:r>
            <a:endParaRPr lang="en-US" sz="2000" dirty="0"/>
          </a:p>
        </p:txBody>
      </p:sp>
      <p:sp>
        <p:nvSpPr>
          <p:cNvPr id="12" name="Git integration text"/>
          <p:cNvSpPr txBox="1"/>
          <p:nvPr/>
        </p:nvSpPr>
        <p:spPr>
          <a:xfrm>
            <a:off x="3566160" y="2743200"/>
            <a:ext cx="2011680" cy="1645920"/>
          </a:xfrm>
          <a:prstGeom prst="rect">
            <a:avLst/>
          </a:prstGeom>
          <a:noFill/>
          <a:ln/>
        </p:spPr>
        <p:txBody>
          <a:bodyPr wrap="square" lIns="0" tIns="0" rIns="0" bIns="0" rtlCol="0" anchor="t"/>
          <a:lstStyle/>
          <a:p>
            <a:pPr indent="0" marL="0">
              <a:buNone/>
            </a:pPr>
            <a:r>
              <a:rPr lang="en-US" sz="1400" dirty="0">
                <a:solidFill>
                  <a:schemeClr val="accent6"/>
                </a:solidFill>
              </a:rPr>
              <a:t>We learned to work on parts of the project simultaneously, then merge and integrate them into one product.</a:t>
            </a:r>
            <a:endParaRPr lang="en-US" sz="1400" dirty="0"/>
          </a:p>
        </p:txBody>
      </p:sp>
      <p:sp>
        <p:nvSpPr>
          <p:cNvPr id="13" name="Hosting card"/>
          <p:cNvSpPr/>
          <p:nvPr/>
        </p:nvSpPr>
        <p:spPr>
          <a:xfrm>
            <a:off x="6126480" y="1280160"/>
            <a:ext cx="2468880" cy="3246120"/>
          </a:xfrm>
          <a:prstGeom prst="roundRect">
            <a:avLst>
              <a:gd name="adj" fmla="val 4444"/>
            </a:avLst>
          </a:prstGeom>
          <a:solidFill>
            <a:schemeClr val="bg1"/>
          </a:solidFill>
          <a:ln w="12700">
            <a:solidFill>
              <a:schemeClr val="bg1"/>
            </a:solidFill>
            <a:prstDash val="solid"/>
          </a:ln>
          <a:effectLst>
            <a:outerShdw sx="100000" sy="100000" kx="0" ky="0" algn="bl" rotWithShape="0" blurRad="127000" dist="38100" dir="5400000">
              <a:srgbClr val="000000">
                <a:alpha val="12000"/>
              </a:srgbClr>
            </a:outerShdw>
          </a:effectLst>
        </p:spPr>
      </p:sp>
      <p:sp>
        <p:nvSpPr>
          <p:cNvPr id="14" name="Hosting circle"/>
          <p:cNvSpPr/>
          <p:nvPr/>
        </p:nvSpPr>
        <p:spPr>
          <a:xfrm>
            <a:off x="6355080" y="1508760"/>
            <a:ext cx="640080" cy="640080"/>
          </a:xfrm>
          <a:prstGeom prst="ellipse">
            <a:avLst/>
          </a:prstGeom>
          <a:solidFill>
            <a:schemeClr val="accent4"/>
          </a:solidFill>
          <a:ln w="12700">
            <a:solidFill>
              <a:schemeClr val="accent4"/>
            </a:solidFill>
            <a:prstDash val="solid"/>
          </a:ln>
        </p:spPr>
      </p:sp>
      <p:pic>
        <p:nvPicPr>
          <p:cNvPr id="15" name="Hosting icon" descr="Hosting">    </p:cNvPr>
          <p:cNvPicPr>
            <a:picLocks noChangeAspect="1"/>
          </p:cNvPicPr>
          <p:nvPr/>
        </p:nvPicPr>
        <p:blipFill>
          <a:blip r:embed="rId3"/>
          <a:stretch>
            <a:fillRect/>
          </a:stretch>
        </p:blipFill>
        <p:spPr>
          <a:xfrm>
            <a:off x="6534302" y="1687982"/>
            <a:ext cx="281635" cy="281635"/>
          </a:xfrm>
          <a:prstGeom prst="rect">
            <a:avLst/>
          </a:prstGeom>
        </p:spPr>
      </p:pic>
      <p:sp>
        <p:nvSpPr>
          <p:cNvPr id="16" name="Hosting heading"/>
          <p:cNvSpPr txBox="1"/>
          <p:nvPr/>
        </p:nvSpPr>
        <p:spPr>
          <a:xfrm>
            <a:off x="6355080" y="2286000"/>
            <a:ext cx="2011680" cy="365760"/>
          </a:xfrm>
          <a:prstGeom prst="rect">
            <a:avLst/>
          </a:prstGeom>
          <a:noFill/>
          <a:ln/>
        </p:spPr>
        <p:txBody>
          <a:bodyPr wrap="square" lIns="0" tIns="0" rIns="0" bIns="0" rtlCol="0" anchor="ctr"/>
          <a:lstStyle/>
          <a:p>
            <a:pPr indent="0" marL="0">
              <a:buNone/>
            </a:pPr>
            <a:r>
              <a:rPr lang="en-US" sz="2000" b="1" dirty="0">
                <a:solidFill>
                  <a:schemeClr val="tx1"/>
                </a:solidFill>
              </a:rPr>
              <a:t>Hosting</a:t>
            </a:r>
            <a:endParaRPr lang="en-US" sz="2000" dirty="0"/>
          </a:p>
        </p:txBody>
      </p:sp>
      <p:sp>
        <p:nvSpPr>
          <p:cNvPr id="17" name="Hosting text"/>
          <p:cNvSpPr txBox="1"/>
          <p:nvPr/>
        </p:nvSpPr>
        <p:spPr>
          <a:xfrm>
            <a:off x="6355080" y="2743200"/>
            <a:ext cx="2011680" cy="1645920"/>
          </a:xfrm>
          <a:prstGeom prst="rect">
            <a:avLst/>
          </a:prstGeom>
          <a:noFill/>
          <a:ln/>
        </p:spPr>
        <p:txBody>
          <a:bodyPr wrap="square" lIns="0" tIns="0" rIns="0" bIns="0" rtlCol="0" anchor="t"/>
          <a:lstStyle/>
          <a:p>
            <a:pPr indent="0" marL="0">
              <a:buNone/>
            </a:pPr>
            <a:r>
              <a:rPr lang="en-US" sz="1400" dirty="0">
                <a:solidFill>
                  <a:schemeClr val="accent6"/>
                </a:solidFill>
              </a:rPr>
              <a:t>We weren't sure how to reach the app outside our local systems. The Gradio library made it available through a URL.</a:t>
            </a:r>
            <a:endParaRPr lang="en-US" sz="1400" dirty="0"/>
          </a:p>
        </p:txBody>
      </p:sp>
      <p:sp>
        <p:nvSpPr>
          <p:cNvPr id="25" name="Slide Number Placeholder 0"/>
          <p:cNvSpPr>
            <a:spLocks noGrp="1"/>
          </p:cNvSpPr>
          <p:nvPr>
            <p:ph type="sldNum" sz="quarter" idx="4294967295"/>
          </p:nvPr>
        </p:nvSpPr>
        <p:spPr>
          <a:xfrm>
            <a:off x="813816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alo"/>
          <p:cNvSpPr/>
          <p:nvPr/>
        </p:nvSpPr>
        <p:spPr>
          <a:xfrm>
            <a:off x="3657600" y="640080"/>
            <a:ext cx="1828800" cy="1828800"/>
          </a:xfrm>
          <a:prstGeom prst="ellipse">
            <a:avLst/>
          </a:prstGeom>
          <a:solidFill>
            <a:schemeClr val="accent3">
              <a:alpha val="30000"/>
            </a:schemeClr>
          </a:solidFill>
          <a:ln w="12700">
            <a:solidFill>
              <a:schemeClr val="accent3"/>
            </a:solidFill>
            <a:prstDash val="solid"/>
          </a:ln>
        </p:spPr>
      </p:sp>
      <p:sp>
        <p:nvSpPr>
          <p:cNvPr id="3" name="Microphone circle"/>
          <p:cNvSpPr/>
          <p:nvPr/>
        </p:nvSpPr>
        <p:spPr>
          <a:xfrm>
            <a:off x="3977640" y="960120"/>
            <a:ext cx="1188720" cy="1188720"/>
          </a:xfrm>
          <a:prstGeom prst="ellipse">
            <a:avLst/>
          </a:prstGeom>
          <a:solidFill>
            <a:schemeClr val="accent1"/>
          </a:solidFill>
          <a:ln w="12700">
            <a:solidFill>
              <a:schemeClr val="accent1"/>
            </a:solidFill>
            <a:prstDash val="solid"/>
          </a:ln>
        </p:spPr>
      </p:sp>
      <p:pic>
        <p:nvPicPr>
          <p:cNvPr id="4" name="Microphone icon" descr="Microphone">    </p:cNvPr>
          <p:cNvPicPr>
            <a:picLocks noChangeAspect="1"/>
          </p:cNvPicPr>
          <p:nvPr/>
        </p:nvPicPr>
        <p:blipFill>
          <a:blip r:embed="rId1"/>
          <a:stretch>
            <a:fillRect/>
          </a:stretch>
        </p:blipFill>
        <p:spPr>
          <a:xfrm>
            <a:off x="4310482" y="1292962"/>
            <a:ext cx="523037" cy="523037"/>
          </a:xfrm>
          <a:prstGeom prst="rect">
            <a:avLst/>
          </a:prstGeom>
        </p:spPr>
      </p:pic>
      <p:sp>
        <p:nvSpPr>
          <p:cNvPr id="5" name="Text 0"/>
          <p:cNvSpPr/>
          <p:nvPr>
            <p:ph idx="100" type="title" hasCustomPrompt="1"/>
          </p:nvPr>
        </p:nvSpPr>
        <p:spPr>
          <a:xfrm>
            <a:off x="640080" y="2468880"/>
            <a:ext cx="7863840" cy="100584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6" name="Text 0"/>
          <p:cNvSpPr/>
          <p:nvPr>
            <p:ph idx="101" type="body" hasCustomPrompt="1"/>
          </p:nvPr>
        </p:nvSpPr>
        <p:spPr>
          <a:xfrm>
            <a:off x="640080" y="3520440"/>
            <a:ext cx="7863840" cy="548640"/>
          </a:xfrm>
          <a:prstGeom prst="rect">
            <a:avLst/>
          </a:prstGeom>
          <a:noFill/>
          <a:ln/>
        </p:spPr>
        <p:txBody>
          <a:bodyPr wrap="square" lIns="0" tIns="0" rIns="0" bIns="0" rtlCol="0" anchor="t"/>
          <a:lstStyle/>
          <a:p>
            <a:pPr algn="ctr" indent="0" marL="0">
              <a:buNone/>
            </a:pPr>
            <a:r>
              <a:rPr lang="en-US" sz="2000" dirty="0">
                <a:solidFill>
                  <a:schemeClr val="bg2"/>
                </a:solidFill>
              </a:rPr>
              <a:t>Questions?</a:t>
            </a:r>
            <a:endParaRPr lang="en-US" sz="2000" dirty="0"/>
          </a:p>
        </p:txBody>
      </p:sp>
    </p:spTree>
  </p:cSld>
  <p:clrMapOvr>
    <a:masterClrMapping/>
  </p:clrMapOvr>
</p:sld>
</file>

<file path=ppt/theme/theme1.xml><?xml version="1.0" encoding="utf-8"?>
<a:theme xmlns:a="http://schemas.openxmlformats.org/drawingml/2006/main" name="Podcast Studio">
  <a:themeElements>
    <a:clrScheme name="Podcast Studio">
      <a:dk1>
        <a:srgbClr val="1B1A2E"/>
      </a:dk1>
      <a:lt1>
        <a:srgbClr val="FFFFFF"/>
      </a:lt1>
      <a:dk2>
        <a:srgbClr val="2E2B4F"/>
      </a:dk2>
      <a:lt2>
        <a:srgbClr val="F3F2FA"/>
      </a:lt2>
      <a:accent1>
        <a:srgbClr val="FF6B5B"/>
      </a:accent1>
      <a:accent2>
        <a:srgbClr val="FFC857"/>
      </a:accent2>
      <a:accent3>
        <a:srgbClr val="7C6FF0"/>
      </a:accent3>
      <a:accent4>
        <a:srgbClr val="3BC4A8"/>
      </a:accent4>
      <a:accent5>
        <a:srgbClr val="8A88A8"/>
      </a:accent5>
      <a:accent6>
        <a:srgbClr val="5B5780"/>
      </a:accent6>
      <a:hlink>
        <a:srgbClr val="7C6FF0"/>
      </a:hlink>
      <a:folHlink>
        <a:srgbClr val="5B5780"/>
      </a:folHlink>
    </a:clrScheme>
    <a:fontScheme name="Podcast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Podcast Studio</dc:title>
  <dc:subject>PptxGenJS Presentation</dc:subject>
  <dc:creator>Sergii Rostovskyi &amp; Pieter Albrecht</dc:creator>
  <cp:lastModifiedBy>Sergii Rostovskyi &amp; Pieter Albrecht</cp:lastModifiedBy>
  <cp:revision>1</cp:revision>
  <dcterms:created xsi:type="dcterms:W3CDTF">2026-10-13T13:21:21Z</dcterms:created>
  <dcterms:modified xsi:type="dcterms:W3CDTF">2026-10-13T13:21:21Z</dcterms:modified>
</cp:coreProperties>
</file>